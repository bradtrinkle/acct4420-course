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81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B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7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14630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B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01168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 Taxation: Show Me the Source</a:t>
            </a:r>
            <a:endParaRPr lang="en-US" sz="46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840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IRS letter, nine pieces of equipment, and a source nobody has opened.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1B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Jordan Reyes is a fictional character presented by an AI avatar.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7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Grace’s situation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3B1217"/>
          </a:solidFill>
          <a:ln w="25400">
            <a:solidFill>
              <a:srgbClr val="F1BE4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6916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“We are reviewing your 2025 return ... a first-year deduction equal to 100 percent of that cost.”  Simulated IRS letter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48640" y="329184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33832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8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42519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pieces of equipment, about $40.4 million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297680" y="329184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3B121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297680" y="33832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800" dirty="0"/>
          </a:p>
        </p:txBody>
      </p:sp>
      <p:sp>
        <p:nvSpPr>
          <p:cNvPr id="12" name="Text 9"/>
          <p:cNvSpPr txBox="1"/>
          <p:nvPr/>
        </p:nvSpPr>
        <p:spPr>
          <a:xfrm>
            <a:off x="4480560" y="42519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 the IRS asks for: contract dates, in-service dates, the legal authority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8046720" y="329184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3B121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46720" y="33832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 9</a:t>
            </a:r>
            <a:endParaRPr lang="en-US" sz="38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0" y="42519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to respond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5440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Grace decides what Velox sends. Grace signs it. You prepare the work.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7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research memo, and what counts as a source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20574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64592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2788920" y="1645920"/>
            <a:ext cx="20574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788920" y="164592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029200" y="1645920"/>
            <a:ext cx="2057400" cy="914400"/>
          </a:xfrm>
          <a:prstGeom prst="roundRect">
            <a:avLst>
              <a:gd name="adj" fmla="val 10000"/>
            </a:avLst>
          </a:prstGeom>
          <a:solidFill>
            <a:srgbClr val="F1BE48"/>
          </a:solidFill>
          <a:ln w="25400">
            <a:solidFill>
              <a:srgbClr val="F1BE4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29200" y="164592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7269480" y="1645920"/>
            <a:ext cx="20574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269480" y="164592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9509760" y="1645920"/>
            <a:ext cx="20574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509760" y="164592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548640" y="2880360"/>
            <a:ext cx="585216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48640" y="3017520"/>
            <a:ext cx="109728" cy="23774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2960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authority is a source anyone can open and read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822960" y="3657600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Internal Revenue Code, Treasury regulations, IRS notices, court decisions.</a:t>
            </a:r>
            <a:endParaRPr lang="en-US" sz="2100" dirty="0"/>
          </a:p>
        </p:txBody>
      </p:sp>
      <p:sp>
        <p:nvSpPr>
          <p:cNvPr id="19" name="Shape 16"/>
          <p:cNvSpPr/>
          <p:nvPr/>
        </p:nvSpPr>
        <p:spPr>
          <a:xfrm>
            <a:off x="6675120" y="2880360"/>
            <a:ext cx="493776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25400">
            <a:solidFill>
              <a:srgbClr val="F1BE4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675120" y="3017520"/>
            <a:ext cx="109728" cy="2377440"/>
          </a:xfrm>
          <a:prstGeom prst="rect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949440" y="30175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citation is its address</a:t>
            </a:r>
            <a:endParaRPr lang="en-US" sz="2200" dirty="0"/>
          </a:p>
        </p:txBody>
      </p:sp>
      <p:sp>
        <p:nvSpPr>
          <p:cNvPr id="22" name="Text 19"/>
          <p:cNvSpPr txBox="1"/>
          <p:nvPr/>
        </p:nvSpPr>
        <p:spPr>
          <a:xfrm>
            <a:off x="6949440" y="3657600"/>
            <a:ext cx="4480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“Section 168” or “IRS Notice 2026-11.” A friend’s memory, a blog post, or AI from memory is not an authority.</a:t>
            </a:r>
            <a:endParaRPr lang="en-US" sz="21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rules part is where sources matter.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7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and citations: a right answer you cannot check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35661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783080"/>
            <a:ext cx="109728" cy="22860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783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address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231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rule with the wrong section number.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297680" y="1645920"/>
            <a:ext cx="35661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297680" y="1783080"/>
            <a:ext cx="109728" cy="22860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0" y="1783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date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4572000" y="24231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 that has since changed.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8046720" y="1645920"/>
            <a:ext cx="35661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046720" y="1783080"/>
            <a:ext cx="109728" cy="22860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321040" y="1783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exist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8321040" y="24231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source that sounds real but is not.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548640" y="4480560"/>
            <a:ext cx="110642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25400">
            <a:solidFill>
              <a:srgbClr val="F1BE4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8640" y="4617720"/>
            <a:ext cx="109728" cy="1371600"/>
          </a:xfrm>
          <a:prstGeom prst="rect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2960" y="4617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is not “Are you sure?”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" y="52578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AI the sources, make it quote them, then open the ones that matter yourself.</a:t>
            </a:r>
            <a:endParaRPr lang="en-US" sz="2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7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Demo: a made-up company (Cedar Valley Brewing Co.)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557784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373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Claude was given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286000"/>
            <a:ext cx="5120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IRS letter, much like Grace’s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equipment schedule: 4 items, $4,025,000, all deducted at 100 percent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sources at all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6400800" y="1645920"/>
            <a:ext cx="5212080" cy="4480560"/>
          </a:xfrm>
          <a:prstGeom prst="roundRect">
            <a:avLst>
              <a:gd name="adj" fmla="val 2041"/>
            </a:avLst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629400" y="17373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request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629400" y="2240280"/>
            <a:ext cx="47548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short research memo that answers whether Cedar Valley claimed the right first-year deduction. Then list every source you cite in a table: the citation, what it supports, and the exact words you rely on.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7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Claude’s first memo, with no sources (real output)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691640"/>
            <a:ext cx="109728" cy="20116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6916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conclusion</a:t>
            </a:r>
            <a:endParaRPr lang="en-US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33172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holds only for the bottling line. Tanks and racks were contracted before Jan 20, 2025, so 40%. Lab equipment: no date. Net over-deduction about $1.33 million.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217920" y="1554480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F1BE4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17920" y="1691640"/>
            <a:ext cx="109728" cy="2011680"/>
          </a:xfrm>
          <a:prstGeom prst="rect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92240" y="16916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own warning</a:t>
            </a:r>
            <a:endParaRPr lang="en-US" sz="2100" dirty="0"/>
          </a:p>
        </p:txBody>
      </p:sp>
      <p:sp>
        <p:nvSpPr>
          <p:cNvPr id="12" name="Text 9"/>
          <p:cNvSpPr txBox="1"/>
          <p:nvPr/>
        </p:nvSpPr>
        <p:spPr>
          <a:xfrm>
            <a:off x="6492240" y="233172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drafted this from memory with no source access ... Verify each citation, subparagraph and dollar figure against the primary sources.”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621792" y="4023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(5 rows)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4279392" y="4023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Said it supports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4434840"/>
            <a:ext cx="11064240" cy="347472"/>
          </a:xfrm>
          <a:prstGeom prst="rect">
            <a:avLst/>
          </a:prstGeom>
          <a:solidFill>
            <a:srgbClr val="F3E3E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1792" y="4434840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IRC §168(k)(1), (k)(2)(A)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279392" y="4434840"/>
            <a:ext cx="7296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applies to property with a recovery period of 20 years or less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782312"/>
            <a:ext cx="110642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21792" y="4782312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P.L. 119-21, §70301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4279392" y="4782312"/>
            <a:ext cx="7296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after January 19, 2025; 40% for earlier property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48640" y="5129784"/>
            <a:ext cx="11064240" cy="347472"/>
          </a:xfrm>
          <a:prstGeom prst="rect">
            <a:avLst/>
          </a:prstGeom>
          <a:solidFill>
            <a:srgbClr val="F3E3E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21792" y="5129784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Treas. Reg. §1.168(k)-2(b)(5)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4279392" y="5129784"/>
            <a:ext cx="7296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date is the binding-contract date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548640" y="5477256"/>
            <a:ext cx="110642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21792" y="5477256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IRC §179(b)(1)-(2)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4279392" y="5477256"/>
            <a:ext cx="7296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Expensing limit and phase-out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548640" y="5824728"/>
            <a:ext cx="11064240" cy="347472"/>
          </a:xfrm>
          <a:prstGeom prst="rect">
            <a:avLst/>
          </a:prstGeom>
          <a:solidFill>
            <a:srgbClr val="F3E3E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21792" y="5824728"/>
            <a:ext cx="3547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IRC §168(b)(3), (d)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4279392" y="5824728"/>
            <a:ext cx="7296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depreciation, half-year convention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7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Source-grounded prompting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676656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783080"/>
            <a:ext cx="109728" cy="26517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78308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added to the chat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23160"/>
            <a:ext cx="6309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Attached the Cedar Valley Source Packet: word-for-word excerpts from IRS documents, in notes S1 to S8. Told Claude to check its own citation table against it, and to use only the packet from now on.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7589520" y="1645920"/>
            <a:ext cx="402336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25400">
            <a:solidFill>
              <a:srgbClr val="F1BE4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589520" y="1783080"/>
            <a:ext cx="109728" cy="2651760"/>
          </a:xfrm>
          <a:prstGeom prst="rect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863840" y="17830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7863840" y="242316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only these sources. Label and quote. Write “not in the sources” for gaps.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548640" y="489204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" y="49377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Technique: </a:t>
            </a:r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Source-grounded prompting (also called grounding, open-book prompting; the idea behind RAG)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helps: </a:t>
            </a:r>
            <a:pPr indent="0" marL="0">
              <a:buNone/>
            </a:pPr>
            <a:r>
              <a:rPr lang="en-US" sz="2000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check every statement against text you hold, and a gap shows up as a flag instead of a guess.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7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Claude’s cite-check against the packet (real output)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621792" y="1508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3913632" y="1508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Claude’s mark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016752" y="150876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(condensed)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1920240"/>
            <a:ext cx="11064240" cy="457200"/>
          </a:xfrm>
          <a:prstGeom prst="rect">
            <a:avLst/>
          </a:prstGeom>
          <a:solidFill>
            <a:srgbClr val="F3E3E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21792" y="1920240"/>
            <a:ext cx="3182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IRC §168(k)(1), (k)(2)(A)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3913632" y="192024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the packet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016752" y="1920240"/>
            <a:ext cx="5559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packet has no Code text.”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2377440"/>
            <a:ext cx="11064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21792" y="2377440"/>
            <a:ext cx="3182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P.L. 119-21, 100% after Jan 19, 2025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3913632" y="237744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016752" y="2377440"/>
            <a:ext cx="5559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S1, plus one difference: acquired AND placed in service.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2834640"/>
            <a:ext cx="11064240" cy="457200"/>
          </a:xfrm>
          <a:prstGeom prst="rect">
            <a:avLst/>
          </a:prstGeom>
          <a:solidFill>
            <a:srgbClr val="F3E3E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21792" y="2834640"/>
            <a:ext cx="3182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entry: 40% for earlier property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3913632" y="283464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016752" y="2834640"/>
            <a:ext cx="5559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puts the 40% under the earlier law, TCJA §168(k)(6).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48640" y="3291840"/>
            <a:ext cx="11064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21792" y="3291840"/>
            <a:ext cx="3182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Treas. Reg. §1.168(k)-2(b)(5): date signed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3913632" y="329184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6016752" y="3291840"/>
            <a:ext cx="5559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S4: the acquisition date is the later of four dates, “not simply the signing date.”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548640" y="3749040"/>
            <a:ext cx="11064240" cy="457200"/>
          </a:xfrm>
          <a:prstGeom prst="rect">
            <a:avLst/>
          </a:prstGeom>
          <a:solidFill>
            <a:srgbClr val="F3E3E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21792" y="3749040"/>
            <a:ext cx="3182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IRC §179(b)(1)-(2)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3913632" y="374904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the packet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6016752" y="3749040"/>
            <a:ext cx="5559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 lists Section 179 as not covered. “I should not have offered it.”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548640" y="4206240"/>
            <a:ext cx="11064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21792" y="4206240"/>
            <a:ext cx="3182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IRC §168(b)(3), (d)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3913632" y="420624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the packet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6016752" y="4206240"/>
            <a:ext cx="5559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 text; only a company fact in S7.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548640" y="54864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25400">
            <a:solidFill>
              <a:srgbClr val="F1BE48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22960" y="550468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“Not in the packet” is a flag, not a verdict. </a:t>
            </a:r>
            <a:pPr indent="0" marL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opens the original, or leaves it out.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7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redone memo and the calculation (real output)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630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Over-claimed first-year deduction, by item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965960"/>
            <a:ext cx="22860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CV-1 tanks (contract Oct 5, 2024)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926080" y="2011680"/>
            <a:ext cx="3044800" cy="37033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062320" y="1965960"/>
            <a:ext cx="17373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$1,079,946.00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583180"/>
            <a:ext cx="22860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CV-3 racks (contract Jan 10, 2025)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926080" y="2628900"/>
            <a:ext cx="695954" cy="37033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713474" y="2583180"/>
            <a:ext cx="17373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$246,844.80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3200400"/>
            <a:ext cx="22860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CV-4 lab, if signed before Jan 20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926080" y="3246120"/>
            <a:ext cx="137741" cy="37033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155261" y="3200400"/>
            <a:ext cx="17373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$48,854.70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3817620"/>
            <a:ext cx="22860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CV-2 bottling (contract Mar 2, 2025)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2926080" y="3863340"/>
            <a:ext cx="18288" cy="37033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035808" y="3817620"/>
            <a:ext cx="17373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8321040" y="1463040"/>
            <a:ext cx="329184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25400">
            <a:solidFill>
              <a:srgbClr val="F1BE4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21040" y="1600200"/>
            <a:ext cx="109728" cy="2743200"/>
          </a:xfrm>
          <a:prstGeom prst="rect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595360" y="16002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Total, between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8595360" y="2240280"/>
            <a:ext cx="2834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$1,326,790.80 and $1,375,645.50 over-claimed. Extra tax at 21%: $278,626.07 to $288,885.56.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548640" y="4709160"/>
            <a:ext cx="110642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22960" y="4754880"/>
            <a:ext cx="10515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 the redone memo: </a:t>
            </a:r>
            <a:pPr indent="0" marL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and exact quotes for S1 to S5 and S7; a list of assumptions, including that the signing date is the acquisition date; “not in the sources” for Section 179, state tax, interest, and penalties; both outcomes for the missing contract date, with no guess.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7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notice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1581912"/>
            <a:ext cx="640080" cy="64008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5819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5087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memo was good, and still could not be used.</a:t>
            </a:r>
            <a:endParaRPr lang="en-US" sz="2300" dirty="0"/>
          </a:p>
        </p:txBody>
      </p:sp>
      <p:sp>
        <p:nvSpPr>
          <p:cNvPr id="8" name="Shape 5"/>
          <p:cNvSpPr/>
          <p:nvPr/>
        </p:nvSpPr>
        <p:spPr>
          <a:xfrm>
            <a:off x="640080" y="2496312"/>
            <a:ext cx="640080" cy="64008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24963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1554480" y="24231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packet, Claude sorted its own citations, caught the “later of four dates” rule, and withdrew a point.</a:t>
            </a:r>
            <a:endParaRPr lang="en-US" sz="2300" dirty="0"/>
          </a:p>
        </p:txBody>
      </p:sp>
      <p:sp>
        <p:nvSpPr>
          <p:cNvPr id="11" name="Shape 8"/>
          <p:cNvSpPr/>
          <p:nvPr/>
        </p:nvSpPr>
        <p:spPr>
          <a:xfrm>
            <a:off x="640080" y="3410712"/>
            <a:ext cx="640080" cy="64008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34107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1554480" y="33375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used code, showed each item, and gave both outcomes.</a:t>
            </a:r>
            <a:endParaRPr lang="en-US" sz="2300" dirty="0"/>
          </a:p>
        </p:txBody>
      </p:sp>
      <p:sp>
        <p:nvSpPr>
          <p:cNvPr id="14" name="Shape 11"/>
          <p:cNvSpPr/>
          <p:nvPr/>
        </p:nvSpPr>
        <p:spPr>
          <a:xfrm>
            <a:off x="640080" y="4325112"/>
            <a:ext cx="640080" cy="64008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0080" y="43251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1554480" y="42519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is only as good as the packet.</a:t>
            </a:r>
            <a:endParaRPr lang="en-US" sz="2300" dirty="0"/>
          </a:p>
        </p:txBody>
      </p:sp>
      <p:sp>
        <p:nvSpPr>
          <p:cNvPr id="17" name="Shape 14"/>
          <p:cNvSpPr/>
          <p:nvPr/>
        </p:nvSpPr>
        <p:spPr>
          <a:xfrm>
            <a:off x="640080" y="5239512"/>
            <a:ext cx="640080" cy="64008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" y="52395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1554480" y="51663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cite-check is a draft too. A person opens the sources that matter.</a:t>
            </a:r>
            <a:endParaRPr lang="en-US" sz="2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7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memo for Grace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548640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783080"/>
            <a:ext cx="109728" cy="35661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7830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here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23160"/>
            <a:ext cx="5029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sentence: what you found, how large it is, and that it rests on the Source Packet only.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6309360" y="1645920"/>
            <a:ext cx="530352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25400">
            <a:solidFill>
              <a:srgbClr val="F1BE4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09360" y="1783080"/>
            <a:ext cx="109728" cy="3566160"/>
          </a:xfrm>
          <a:prstGeom prst="rect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83680" y="17830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6583680" y="2423160"/>
            <a:ext cx="4846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 with packet labels. The numbers that matter. What is missing or not in the sources. The next step for a person.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56692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most 300 words. Roles and asset IDs only. This week’s reusable piece: your Research Memo Template.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7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Ethics checkpoint: accuracy, and a person signs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54864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783080"/>
            <a:ext cx="109728" cy="37490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7830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may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23160"/>
            <a:ext cx="5029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the memo. Compare citations to sources. Calculate with code.</a:t>
            </a:r>
            <a:endParaRPr lang="en-US" sz="2300" dirty="0"/>
          </a:p>
        </p:txBody>
      </p:sp>
      <p:sp>
        <p:nvSpPr>
          <p:cNvPr id="9" name="Shape 6"/>
          <p:cNvSpPr/>
          <p:nvPr/>
        </p:nvSpPr>
        <p:spPr>
          <a:xfrm>
            <a:off x="6309360" y="1645920"/>
            <a:ext cx="530352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25400">
            <a:solidFill>
              <a:srgbClr val="F1BE4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09360" y="1783080"/>
            <a:ext cx="109728" cy="3749040"/>
          </a:xfrm>
          <a:prstGeom prst="rect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83680" y="17830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must not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6583680" y="242316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the only check on its own citations. Present a source as checked when no person opened it. Give a number without showing the work. Send or sign anything to the IRS.</a:t>
            </a:r>
            <a:endParaRPr lang="en-US" sz="21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area 2: accuracy. Area 5: human accountability.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81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B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7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week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1737360"/>
            <a:ext cx="10607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 letter in a plain chat, then learn and judge five AI suggestions</a:t>
            </a:r>
            <a:endParaRPr lang="en-US" sz="2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Research Memo Template</a:t>
            </a:r>
            <a:endParaRPr lang="en-US" sz="2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 with no sources, then the packet: cite-check, redo, calculate with code, and a web search for the originals</a:t>
            </a:r>
            <a:endParaRPr lang="en-US" sz="2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two findings yourself</a:t>
            </a:r>
            <a:endParaRPr lang="en-US" sz="2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 for Grace, plus a lens from one of six equal options</a:t>
            </a:r>
            <a:endParaRPr lang="en-US" sz="2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from me, revise once, quiz, reflect</a:t>
            </a:r>
            <a:endParaRPr lang="en-US" sz="23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5394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BE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me the source.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7: AI in Taxation</dc:title>
  <dc:subject>PptxGenJS Presentation</dc:subject>
  <dc:creator>Tallgrass Advisory (course scenario)</dc:creator>
  <cp:lastModifiedBy>Tallgrass Advisory (course scenario)</cp:lastModifiedBy>
  <cp:revision>1</cp:revision>
  <dcterms:created xsi:type="dcterms:W3CDTF">2026-10-20T21:25:55Z</dcterms:created>
  <dcterms:modified xsi:type="dcterms:W3CDTF">2026-10-20T21:25:55Z</dcterms:modified>
</cp:coreProperties>
</file>