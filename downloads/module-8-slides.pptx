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81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1B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8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4630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1B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201168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Pieces to Workflows: The Month-End Machine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840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stages, two gates, and a Controller who is trying to break it.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1B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Jordan Reyes is a fictional character presented by an AI avatar.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8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Walt’s deal: three months of tests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356616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38100">
            <a:solidFill>
              <a:srgbClr val="F1BE4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7830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October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4688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06324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may see what you missed, and fix it.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297680" y="1645920"/>
            <a:ext cx="356616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38100">
            <a:solidFill>
              <a:srgbClr val="C8102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480560" y="17830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November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4480560" y="24688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Walt’s Gauntlet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4480560" y="306324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Planted problems you have not seen. You run it once.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8046720" y="1645920"/>
            <a:ext cx="356616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38100">
            <a:solidFill>
              <a:srgbClr val="3B121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0" y="17830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December</a:t>
            </a:r>
            <a:endParaRPr lang="en-US" sz="32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0" y="24688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month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0" y="306324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your fixes work on something new?</a:t>
            </a:r>
            <a:endParaRPr lang="en-US" sz="21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12064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month: reconcile the bank, check the variances, scan the payments, write the memo. A person still signs.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8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workflow, in four stages and two gates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37360"/>
            <a:ext cx="23774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38100">
            <a:solidFill>
              <a:srgbClr val="C8102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81051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1945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 cash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2971800" y="2240280"/>
            <a:ext cx="228600" cy="365760"/>
          </a:xfrm>
          <a:prstGeom prst="rightArrow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246120" y="1737360"/>
            <a:ext cx="23774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38100">
            <a:solidFill>
              <a:srgbClr val="C8102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46120" y="181051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3337560" y="21945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variances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669280" y="2240280"/>
            <a:ext cx="228600" cy="365760"/>
          </a:xfrm>
          <a:prstGeom prst="rightArrow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943600" y="1737360"/>
            <a:ext cx="23774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38100">
            <a:solidFill>
              <a:srgbClr val="C8102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943600" y="181051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6035040" y="21945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payments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8366760" y="2240280"/>
            <a:ext cx="228600" cy="365760"/>
          </a:xfrm>
          <a:prstGeom prst="rightArrow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641080" y="1737360"/>
            <a:ext cx="23774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38100">
            <a:solidFill>
              <a:srgbClr val="C8102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41080" y="181051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732520" y="21945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close memo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2011680" y="3429000"/>
            <a:ext cx="2194560" cy="777240"/>
          </a:xfrm>
          <a:prstGeom prst="roundRect">
            <a:avLst>
              <a:gd name="adj" fmla="val 11765"/>
            </a:avLst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011680" y="34290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1: </a:t>
            </a:r>
            <a:pPr algn="ctr" indent="0" marL="0">
              <a:buNone/>
            </a:pPr>
            <a:r>
              <a:rPr lang="en-US" sz="1600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reads and replies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7406640" y="3429000"/>
            <a:ext cx="2194560" cy="777240"/>
          </a:xfrm>
          <a:prstGeom prst="roundRect">
            <a:avLst>
              <a:gd name="adj" fmla="val 11765"/>
            </a:avLst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406640" y="34290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2: </a:t>
            </a:r>
            <a:pPr algn="ctr" indent="0" marL="0">
              <a:buNone/>
            </a:pPr>
            <a:r>
              <a:rPr lang="en-US" sz="1600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reads and replies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548640" y="4434840"/>
            <a:ext cx="54864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48640" y="4572000"/>
            <a:ext cx="109728" cy="150876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" y="45720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2200" dirty="0"/>
          </a:p>
        </p:txBody>
      </p:sp>
      <p:sp>
        <p:nvSpPr>
          <p:cNvPr id="27" name="Text 24"/>
          <p:cNvSpPr txBox="1"/>
          <p:nvPr/>
        </p:nvSpPr>
        <p:spPr>
          <a:xfrm>
            <a:off x="822960" y="521208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fix the steps, the order, and where a person looks. The AI works inside each step.</a:t>
            </a:r>
            <a:endParaRPr lang="en-US" sz="1900" dirty="0"/>
          </a:p>
        </p:txBody>
      </p:sp>
      <p:sp>
        <p:nvSpPr>
          <p:cNvPr id="28" name="Shape 25"/>
          <p:cNvSpPr/>
          <p:nvPr/>
        </p:nvSpPr>
        <p:spPr>
          <a:xfrm>
            <a:off x="6309360" y="4434840"/>
            <a:ext cx="530352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F1BE4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309360" y="4572000"/>
            <a:ext cx="109728" cy="1508760"/>
          </a:xfrm>
          <a:prstGeom prst="rect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583680" y="45720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(next week)</a:t>
            </a:r>
            <a:endParaRPr lang="en-US" sz="2200" dirty="0"/>
          </a:p>
        </p:txBody>
      </p:sp>
      <p:sp>
        <p:nvSpPr>
          <p:cNvPr id="31" name="Text 28"/>
          <p:cNvSpPr txBox="1"/>
          <p:nvPr/>
        </p:nvSpPr>
        <p:spPr>
          <a:xfrm>
            <a:off x="6583680" y="521208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chooses its own steps. Predictable work that someone signs starts as a workflow.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8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stage reuses a piece you already built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21792" y="15544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3547872" y="15544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 you reuse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1965960"/>
            <a:ext cx="11064240" cy="566928"/>
          </a:xfrm>
          <a:prstGeom prst="rect">
            <a:avLst/>
          </a:prstGeom>
          <a:solidFill>
            <a:srgbClr val="F3E3E6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" y="1965960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Reconcile cash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3547872" y="1965960"/>
            <a:ext cx="8028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reconciliation chain: match, classify, compute, challenge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2532888"/>
            <a:ext cx="110642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1792" y="2532888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Explain variances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547872" y="2532888"/>
            <a:ext cx="8028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variance template + Module 4 habit: numbers say what, notes say why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3099816"/>
            <a:ext cx="11064240" cy="566928"/>
          </a:xfrm>
          <a:prstGeom prst="rect">
            <a:avLst/>
          </a:prstGeom>
          <a:solidFill>
            <a:srgbClr val="F3E3E6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3099816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Scan payments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3547872" y="3099816"/>
            <a:ext cx="8028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payment checks + Module 7 rule: “not in the data”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3666744"/>
            <a:ext cx="110642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21792" y="3666744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Close memo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3547872" y="3666744"/>
            <a:ext cx="8028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 constraints, and writing for the reader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489204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2960" y="493776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Technique: </a:t>
            </a:r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chaining (also called a multi-step workflow or pipeline)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helps: </a:t>
            </a:r>
            <a:pPr indent="0" marL="0">
              <a:buNone/>
            </a:pPr>
            <a:r>
              <a:rPr lang="en-US" sz="2000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is small enough to check, and its output feeds the next. One rules file holds Walt’s thresholds, so a rule change never means rewriting the machine.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8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machine stops and a person decides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548640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783080"/>
            <a:ext cx="109728" cy="16459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17830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1: after cash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2316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adjusted balance feeds the memo, so an error here spoils everything after it.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309360" y="1645920"/>
            <a:ext cx="530352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309360" y="1783080"/>
            <a:ext cx="109728" cy="16459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83680" y="17830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2: before the memo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6583680" y="242316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decides what goes in front of the Controller.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3749040"/>
            <a:ext cx="54864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25400">
            <a:solidFill>
              <a:srgbClr val="F1BE4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48640" y="3886200"/>
            <a:ext cx="109728" cy="731520"/>
          </a:xfrm>
          <a:prstGeom prst="rect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3886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1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42976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gate approved without reading is a rubber stamp.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6309360" y="374904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25400">
            <a:solidFill>
              <a:srgbClr val="F1BE4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309360" y="3886200"/>
            <a:ext cx="109728" cy="731520"/>
          </a:xfrm>
          <a:prstGeom prst="rect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38862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2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0" y="42976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“None found” is not “looked and found nothing.”</a:t>
            </a:r>
            <a:endParaRPr lang="en-US" sz="1900" dirty="0"/>
          </a:p>
        </p:txBody>
      </p:sp>
      <p:sp>
        <p:nvSpPr>
          <p:cNvPr id="21" name="Shape 18"/>
          <p:cNvSpPr/>
          <p:nvPr/>
        </p:nvSpPr>
        <p:spPr>
          <a:xfrm>
            <a:off x="548640" y="489204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22960" y="493776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Technique: </a:t>
            </a:r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checkpoints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helps: </a:t>
            </a:r>
            <a:pPr indent="0" marL="0">
              <a:buNone/>
            </a:pPr>
            <a:r>
              <a:rPr lang="en-US" sz="2000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does the heavy lifting while a person keeps the judgment and the accountability.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8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Instructions and guardrails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5120640" cy="448056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783080"/>
            <a:ext cx="109728" cy="420624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178308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lives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23160"/>
            <a:ext cx="46634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Claude Project. Knowledge files: Walt’s rules file and the Approved Vendor List. Instructions: how to work. Each month: attach that month’s files to a new chat.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5943600" y="1645920"/>
            <a:ext cx="5669280" cy="448056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25400">
            <a:solidFill>
              <a:srgbClr val="F1BE4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943600" y="1783080"/>
            <a:ext cx="109728" cy="4206240"/>
          </a:xfrm>
          <a:prstGeom prst="rect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17920" y="178308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Guardrails: stop rules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6217920" y="2423160"/>
            <a:ext cx="52120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6217920" y="2377440"/>
            <a:ext cx="52120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only the attached files</a:t>
            </a:r>
            <a:endParaRPr lang="en-US" sz="2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every item by its code</a:t>
            </a:r>
            <a:endParaRPr lang="en-US" sz="2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“not in the data,” never guess</a:t>
            </a:r>
            <a:endParaRPr lang="en-US" sz="2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file is missing, stop and say so</a:t>
            </a:r>
            <a:endParaRPr lang="en-US" sz="2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with code, show the work</a:t>
            </a:r>
            <a:endParaRPr lang="en-US" sz="2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imply fraud; never name individuals</a:t>
            </a:r>
            <a:endParaRPr lang="en-US" sz="2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8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Testing: caught, missed, false alarms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08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test month with 12 planted problems. The machine flagged 10 items.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548640" y="214884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C8102E"/>
          </a:solidFill>
          <a:ln w="31750">
            <a:solidFill>
              <a:srgbClr val="C810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80160" y="214884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C8102E"/>
          </a:solidFill>
          <a:ln w="31750">
            <a:solidFill>
              <a:srgbClr val="C8102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011680" y="214884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C8102E"/>
          </a:solidFill>
          <a:ln w="31750">
            <a:solidFill>
              <a:srgbClr val="C8102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743200" y="214884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C8102E"/>
          </a:solidFill>
          <a:ln w="31750">
            <a:solidFill>
              <a:srgbClr val="C8102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74720" y="214884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C8102E"/>
          </a:solidFill>
          <a:ln w="31750">
            <a:solidFill>
              <a:srgbClr val="C8102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206240" y="214884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C8102E"/>
          </a:solidFill>
          <a:ln w="31750">
            <a:solidFill>
              <a:srgbClr val="C8102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937760" y="214884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C8102E"/>
          </a:solidFill>
          <a:ln w="31750">
            <a:solidFill>
              <a:srgbClr val="C8102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0" y="214884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C8102E"/>
          </a:solidFill>
          <a:ln w="31750">
            <a:solidFill>
              <a:srgbClr val="C8102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00800" y="214884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31750">
            <a:solidFill>
              <a:srgbClr val="C8102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132320" y="214884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31750">
            <a:solidFill>
              <a:srgbClr val="C8102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863840" y="214884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31750">
            <a:solidFill>
              <a:srgbClr val="C8102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595360" y="214884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31750">
            <a:solidFill>
              <a:srgbClr val="C8102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509760" y="338328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F1BE48"/>
          </a:solidFill>
          <a:ln w="25400">
            <a:solidFill>
              <a:srgbClr val="3B121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241280" y="338328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F1BE48"/>
          </a:solidFill>
          <a:ln w="25400">
            <a:solidFill>
              <a:srgbClr val="3B121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283464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Planted problems: 8 caught (filled), 4 missed (empty)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6400800" y="34747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alarms: 2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4114800"/>
            <a:ext cx="36576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48640" y="4251960"/>
            <a:ext cx="109728" cy="64008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2960" y="4251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Recall: caught ÷ planted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822960" y="45720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÷ 12</a:t>
            </a:r>
            <a:endParaRPr lang="en-US" sz="2000" dirty="0"/>
          </a:p>
        </p:txBody>
      </p:sp>
      <p:sp>
        <p:nvSpPr>
          <p:cNvPr id="26" name="Shape 23"/>
          <p:cNvSpPr/>
          <p:nvPr/>
        </p:nvSpPr>
        <p:spPr>
          <a:xfrm>
            <a:off x="4389120" y="4114800"/>
            <a:ext cx="36576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389120" y="4251960"/>
            <a:ext cx="109728" cy="64008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663440" y="4251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Precision: real ÷ flagged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4663440" y="45720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÷ 10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8229600" y="4114800"/>
            <a:ext cx="33832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F1BE4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229600" y="4251960"/>
            <a:ext cx="109728" cy="640080"/>
          </a:xfrm>
          <a:prstGeom prst="rect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503920" y="42519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test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8503920" y="45720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an earlier month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548640" y="5257800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2960" y="5285232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rule, not the practice month. </a:t>
            </a:r>
            <a:pPr indent="0" marL="0">
              <a:buNone/>
            </a:pPr>
            <a:r>
              <a:rPr lang="en-US" sz="2000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note about one payment passes October and fails December (overfitting). A general rule works on a month you have not seen.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8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Lakeshore Marine Supply, turn 1 (real output)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4572000" cy="448056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783080"/>
            <a:ext cx="109728" cy="420624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17830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attached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23160"/>
            <a:ext cx="41148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variance report, the payment register, and the Approved Vendor List. Not the bank statement. Not the cash ledger.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5394960" y="1645920"/>
            <a:ext cx="6217920" cy="4480560"/>
          </a:xfrm>
          <a:prstGeom prst="roundRect">
            <a:avLst>
              <a:gd name="adj" fmla="val 2041"/>
            </a:avLst>
          </a:prstGeom>
          <a:solidFill>
            <a:srgbClr val="3B1217"/>
          </a:solidFill>
          <a:ln w="25400">
            <a:solidFill>
              <a:srgbClr val="F1BE4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69280" y="17830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1B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5669280" y="2286000"/>
            <a:ext cx="56692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 can’t start the close yet. Two of the files I work from are missing: the bank statement and the GL cash ledger. ... when a file is missing I stop and tell you rather than improvise. I haven’t run any stage and haven’t produced any numbers.”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8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1 after all five files (real output)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21792" y="15087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2359152" y="1508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285232" y="150876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Claude found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1920240"/>
            <a:ext cx="11064240" cy="502920"/>
          </a:xfrm>
          <a:prstGeom prst="rect">
            <a:avLst/>
          </a:prstGeom>
          <a:solidFill>
            <a:srgbClr val="F3E3E6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21792" y="1920240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RTN0822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2359152" y="1920240"/>
            <a:ext cx="2816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 item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5285232" y="1920240"/>
            <a:ext cx="6291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$9,600.00 charged back by the bank, not in the books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548640" y="2423160"/>
            <a:ext cx="110642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21792" y="2423160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CHK51004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2359152" y="2423160"/>
            <a:ext cx="2816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amounts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5285232" y="2423160"/>
            <a:ext cx="6291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$6,180.00, books $6,810.00: $630.00 difference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2926080"/>
            <a:ext cx="11064240" cy="502920"/>
          </a:xfrm>
          <a:prstGeom prst="rect">
            <a:avLst/>
          </a:prstGeom>
          <a:solidFill>
            <a:srgbClr val="F3E3E6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21792" y="2926080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WIRE9025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2359152" y="2926080"/>
            <a:ext cx="2816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authorized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285232" y="2926080"/>
            <a:ext cx="6291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$425.00 fee the bank calls “charged in error”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3657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Adjusted balance, calculated with Python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4160520"/>
            <a:ext cx="22860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Adjusted bank balance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2926080" y="4206240"/>
            <a:ext cx="6143662" cy="576072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161182" y="4160520"/>
            <a:ext cx="1737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$530,430.83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120640"/>
            <a:ext cx="22860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Adjusted book balance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2926080" y="5166360"/>
            <a:ext cx="6143662" cy="576072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161182" y="5120640"/>
            <a:ext cx="1737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$530,430.83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8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2: a note exists, but does it explain?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21792" y="15544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3547872" y="1554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→ actual ($000)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925312" y="15544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Claude’s reading of the note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1965960"/>
            <a:ext cx="11064240" cy="868680"/>
          </a:xfrm>
          <a:prstGeom prst="rect">
            <a:avLst/>
          </a:prstGeom>
          <a:solidFill>
            <a:srgbClr val="F3E3E6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21792" y="1965960"/>
            <a:ext cx="2816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 Revenue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3547872" y="1965960"/>
            <a:ext cx="22677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8,200 → 7,610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5925312" y="1965960"/>
            <a:ext cx="5650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“Boat-show season ended early.” Explains it.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548640" y="2834640"/>
            <a:ext cx="110642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21792" y="2834640"/>
            <a:ext cx="2816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L06 Marketing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3547872" y="2834640"/>
            <a:ext cx="22677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→ 470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5925312" y="2834640"/>
            <a:ext cx="5650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“Booth deposits paid in August; budget assumed September.” Explains it.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3703320"/>
            <a:ext cx="11064240" cy="868680"/>
          </a:xfrm>
          <a:prstGeom prst="rect">
            <a:avLst/>
          </a:prstGeom>
          <a:solidFill>
            <a:srgbClr val="F3E3E6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21792" y="3703320"/>
            <a:ext cx="2816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L02 Cost of goods sold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3547872" y="3703320"/>
            <a:ext cx="22677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5,740 → 5,395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925312" y="3703320"/>
            <a:ext cx="5650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“resin price up slightly.” This does NOT explain it: a price rise pushes cost up, but cost is $345 thousand under budget.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48640" y="5029200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2960" y="50749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“The reason cost is lower is not in the data.” It did not guess. That line goes to a person.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8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4: the memo, after both gates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949440" cy="466344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691640"/>
            <a:ext cx="6400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Re: August 2026 close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Adjusted cash balance $530,430.83; 8 exceptions.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1: RTN0822, CHK51004, WIRE9025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2: L01, L06 explained; L02 not explained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3: duplicate (P-700008 / P-700019), possible split (P-700012 / P-700013), P-700016 no second approval, P-700021 vendor not on list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IN THE DATA: why cost of goods sold is under budget; whether the bank will reverse the fee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Reviewed by: ____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772400" y="1554480"/>
            <a:ext cx="3840480" cy="46634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25400">
            <a:solidFill>
              <a:srgbClr val="F1BE4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0" y="1691640"/>
            <a:ext cx="109728" cy="4389120"/>
          </a:xfrm>
          <a:prstGeom prst="rect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46720" y="16916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notice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8046720" y="2331720"/>
            <a:ext cx="338328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 only. Names nobody. Says “not in the data.” Ends with a line for a person to sign.</a:t>
            </a:r>
            <a:endParaRPr lang="en-US" sz="2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8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Ethics checkpoint: human accountability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5486400" cy="402336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783080"/>
            <a:ext cx="109728" cy="374904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17830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may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23160"/>
            <a:ext cx="5029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Match, check, calculate, draft: the first pass.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6309360" y="1645920"/>
            <a:ext cx="5303520" cy="402336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25400">
            <a:solidFill>
              <a:srgbClr val="F1BE4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309360" y="1783080"/>
            <a:ext cx="109728" cy="3749040"/>
          </a:xfrm>
          <a:prstGeom prst="rect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83680" y="17830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person must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6583680" y="2423160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evidence behind each exception, answer for the work, and sign. A machine can never be that person.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8064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 area 5: human accountability.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81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1B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8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8229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week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1737360"/>
            <a:ext cx="106070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chat with October’s files and no rules</a:t>
            </a:r>
            <a:endParaRPr lang="en-US" sz="2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the ideas and judge five suggestions</a:t>
            </a:r>
            <a:endParaRPr lang="en-US" sz="2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your pieces, write instructions, build your Project</a:t>
            </a:r>
            <a:endParaRPr lang="en-US" sz="2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Rehearse on October; take Walt’s Gauntlet on November</a:t>
            </a:r>
            <a:endParaRPr lang="en-US" sz="2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two findings yourself; write the machine card; pick a lens for your final-project idea</a:t>
            </a:r>
            <a:endParaRPr lang="en-US" sz="2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Feedback, fix with general rules, test on December; quiz and reflect</a:t>
            </a:r>
            <a:endParaRPr lang="en-US" sz="23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3949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1B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machine. Then try to break it.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8: From Pieces to Workflows</dc:title>
  <dc:subject>PptxGenJS Presentation</dc:subject>
  <dc:creator>Tallgrass Advisory (course scenario)</dc:creator>
  <cp:lastModifiedBy>Tallgrass Advisory (course scenario)</cp:lastModifiedBy>
  <cp:revision>1</cp:revision>
  <dcterms:created xsi:type="dcterms:W3CDTF">2026-10-20T22:37:13Z</dcterms:created>
  <dcterms:modified xsi:type="dcterms:W3CDTF">2026-10-20T22:37:13Z</dcterms:modified>
</cp:coreProperties>
</file>