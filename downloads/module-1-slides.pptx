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2" d="100"/>
          <a:sy n="122" d="100"/>
        </p:scale>
        <p:origin x="114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ad Trinkle" userId="b8dd573660dcc414" providerId="LiveId" clId="{A6EA18D7-C04A-41D9-95B1-524C9F3ACE55}"/>
    <pc:docChg chg="undo custSel modSld">
      <pc:chgData name="Brad Trinkle" userId="b8dd573660dcc414" providerId="LiveId" clId="{A6EA18D7-C04A-41D9-95B1-524C9F3ACE55}" dt="2026-10-19T15:20:10.565" v="14" actId="1076"/>
      <pc:docMkLst>
        <pc:docMk/>
      </pc:docMkLst>
      <pc:sldChg chg="addSp delSp modSp mod">
        <pc:chgData name="Brad Trinkle" userId="b8dd573660dcc414" providerId="LiveId" clId="{A6EA18D7-C04A-41D9-95B1-524C9F3ACE55}" dt="2026-10-19T15:17:59.597" v="6" actId="1076"/>
        <pc:sldMkLst>
          <pc:docMk/>
          <pc:sldMk cId="0" sldId="262"/>
        </pc:sldMkLst>
        <pc:spChg chg="del">
          <ac:chgData name="Brad Trinkle" userId="b8dd573660dcc414" providerId="LiveId" clId="{A6EA18D7-C04A-41D9-95B1-524C9F3ACE55}" dt="2026-10-19T15:17:31.249" v="0" actId="478"/>
          <ac:spMkLst>
            <pc:docMk/>
            <pc:sldMk cId="0" sldId="262"/>
            <ac:spMk id="7" creationId="{00000000-0000-0000-0000-000000000000}"/>
          </ac:spMkLst>
        </pc:spChg>
        <pc:picChg chg="add mod">
          <ac:chgData name="Brad Trinkle" userId="b8dd573660dcc414" providerId="LiveId" clId="{A6EA18D7-C04A-41D9-95B1-524C9F3ACE55}" dt="2026-10-19T15:17:59.597" v="6" actId="1076"/>
          <ac:picMkLst>
            <pc:docMk/>
            <pc:sldMk cId="0" sldId="262"/>
            <ac:picMk id="9" creationId="{84EEEAA0-4058-EC22-5BF9-262D45BD5625}"/>
          </ac:picMkLst>
        </pc:picChg>
      </pc:sldChg>
      <pc:sldChg chg="addSp delSp modSp mod">
        <pc:chgData name="Brad Trinkle" userId="b8dd573660dcc414" providerId="LiveId" clId="{A6EA18D7-C04A-41D9-95B1-524C9F3ACE55}" dt="2026-10-19T15:20:10.565" v="14" actId="1076"/>
        <pc:sldMkLst>
          <pc:docMk/>
          <pc:sldMk cId="0" sldId="263"/>
        </pc:sldMkLst>
        <pc:spChg chg="del">
          <ac:chgData name="Brad Trinkle" userId="b8dd573660dcc414" providerId="LiveId" clId="{A6EA18D7-C04A-41D9-95B1-524C9F3ACE55}" dt="2026-10-19T15:19:40.270" v="7" actId="478"/>
          <ac:spMkLst>
            <pc:docMk/>
            <pc:sldMk cId="0" sldId="263"/>
            <ac:spMk id="8" creationId="{00000000-0000-0000-0000-000000000000}"/>
          </ac:spMkLst>
        </pc:spChg>
        <pc:picChg chg="add mod">
          <ac:chgData name="Brad Trinkle" userId="b8dd573660dcc414" providerId="LiveId" clId="{A6EA18D7-C04A-41D9-95B1-524C9F3ACE55}" dt="2026-10-19T15:20:10.565" v="14" actId="1076"/>
          <ac:picMkLst>
            <pc:docMk/>
            <pc:sldMk cId="0" sldId="263"/>
            <ac:picMk id="14" creationId="{D106B316-8276-5C00-263F-399428296CA8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05130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810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B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1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4630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1B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201168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as a Capability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2918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to Tallgrass. Week 1 of your Velox rotation.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1B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Jordan Reyes is a fictional character presented by an AI avatar.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matters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920240"/>
            <a:ext cx="11064240" cy="292608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 txBox="1"/>
          <p:nvPr/>
        </p:nvSpPr>
        <p:spPr>
          <a:xfrm>
            <a:off x="914400" y="219456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“How can AI help me do this?”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9319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1B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Priya Natarajan, CFO, Velox Motorworks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it about every task. That habit is the whole course.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AI actually is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530352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109728" cy="30175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 txBox="1"/>
          <p:nvPr/>
        </p:nvSpPr>
        <p:spPr>
          <a:xfrm>
            <a:off x="822960" y="19659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60604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learned patterns from huge amounts of text and predicts what should come next.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6309360" y="1828800"/>
            <a:ext cx="530352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54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309360" y="1965960"/>
            <a:ext cx="109728" cy="3017520"/>
          </a:xfrm>
          <a:prstGeom prst="rect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6583680" y="19659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that means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6583680" y="260604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writes, summarizes, and explains well. It can also sound sure while being wrong.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4864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Fluent is not the same as correct.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AI shines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920240"/>
            <a:ext cx="3566160" cy="1645920"/>
          </a:xfrm>
          <a:prstGeom prst="roundRect">
            <a:avLst>
              <a:gd name="adj" fmla="val 5556"/>
            </a:avLst>
          </a:prstGeom>
          <a:solidFill>
            <a:srgbClr val="C8102E"/>
          </a:solidFill>
          <a:ln w="254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 txBox="1"/>
          <p:nvPr/>
        </p:nvSpPr>
        <p:spPr>
          <a:xfrm>
            <a:off x="731520" y="192024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4297680" y="1920240"/>
            <a:ext cx="356616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4480560" y="192024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Summarize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8046720" y="1920240"/>
            <a:ext cx="3566160" cy="1645920"/>
          </a:xfrm>
          <a:prstGeom prst="roundRect">
            <a:avLst>
              <a:gd name="adj" fmla="val 5556"/>
            </a:avLst>
          </a:prstGeom>
          <a:solidFill>
            <a:srgbClr val="C8102E"/>
          </a:solidFill>
          <a:ln w="254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8229600" y="192024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48640" y="3840480"/>
            <a:ext cx="356616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Translate</a:t>
            </a:r>
            <a:endParaRPr lang="en-US" sz="2600" dirty="0"/>
          </a:p>
        </p:txBody>
      </p:sp>
      <p:sp>
        <p:nvSpPr>
          <p:cNvPr id="13" name="Shape 10"/>
          <p:cNvSpPr/>
          <p:nvPr/>
        </p:nvSpPr>
        <p:spPr>
          <a:xfrm>
            <a:off x="4297680" y="3840480"/>
            <a:ext cx="3566160" cy="1645920"/>
          </a:xfrm>
          <a:prstGeom prst="roundRect">
            <a:avLst>
              <a:gd name="adj" fmla="val 5556"/>
            </a:avLst>
          </a:prstGeom>
          <a:solidFill>
            <a:srgbClr val="C8102E"/>
          </a:solidFill>
          <a:ln w="254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 txBox="1"/>
          <p:nvPr/>
        </p:nvSpPr>
        <p:spPr>
          <a:xfrm>
            <a:off x="4480560" y="384048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Organize</a:t>
            </a:r>
            <a:endParaRPr lang="en-US" sz="2600" dirty="0"/>
          </a:p>
        </p:txBody>
      </p:sp>
      <p:sp>
        <p:nvSpPr>
          <p:cNvPr id="15" name="Shape 12"/>
          <p:cNvSpPr/>
          <p:nvPr/>
        </p:nvSpPr>
        <p:spPr>
          <a:xfrm>
            <a:off x="8046720" y="3840480"/>
            <a:ext cx="356616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8229600" y="384048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Analyze what you give it</a:t>
            </a:r>
            <a:endParaRPr lang="en-US" sz="2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you check it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53949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109728" cy="128016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 txBox="1"/>
          <p:nvPr/>
        </p:nvSpPr>
        <p:spPr>
          <a:xfrm>
            <a:off x="822960" y="19659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math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6060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Recompute it yourself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6217920" y="1828800"/>
            <a:ext cx="53949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254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217920" y="1965960"/>
            <a:ext cx="109728" cy="1280160"/>
          </a:xfrm>
          <a:prstGeom prst="rect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6492240" y="19659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facts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6492240" y="26060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this year’s tax rate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548640" y="3566160"/>
            <a:ext cx="53949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548640" y="3703320"/>
            <a:ext cx="109728" cy="128016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 txBox="1"/>
          <p:nvPr/>
        </p:nvSpPr>
        <p:spPr>
          <a:xfrm>
            <a:off x="822960" y="37033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Citations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43434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 invent them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6217920" y="3566160"/>
            <a:ext cx="53949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254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6217920" y="3703320"/>
            <a:ext cx="109728" cy="1280160"/>
          </a:xfrm>
          <a:prstGeom prst="rect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 txBox="1"/>
          <p:nvPr/>
        </p:nvSpPr>
        <p:spPr>
          <a:xfrm>
            <a:off x="6492240" y="37033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can’t see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6492240" y="43434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Velox’s own records</a:t>
            </a:r>
            <a:endParaRPr lang="en-US" sz="21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4864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Champions don’t avoid AI. They verify.</a:t>
            </a:r>
            <a:endParaRPr lang="en-US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three-way sort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356616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109728" cy="329184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 txBox="1"/>
          <p:nvPr/>
        </p:nvSpPr>
        <p:spPr>
          <a:xfrm>
            <a:off x="822960" y="19659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does it well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926080"/>
            <a:ext cx="31089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risk. A quick read is enough.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297680" y="1828800"/>
            <a:ext cx="356616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254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297680" y="1965960"/>
            <a:ext cx="109728" cy="3291840"/>
          </a:xfrm>
          <a:prstGeom prst="rect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4572000" y="19659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helps, a person checks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926080"/>
            <a:ext cx="31089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does the work. You verify the facts and numbers.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8046720" y="1828800"/>
            <a:ext cx="356616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25400">
            <a:solidFill>
              <a:srgbClr val="3B12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8046720" y="1965960"/>
            <a:ext cx="109728" cy="3291840"/>
          </a:xfrm>
          <a:prstGeom prst="rect">
            <a:avLst/>
          </a:prstGeom>
          <a:solidFill>
            <a:srgbClr val="3B1217"/>
          </a:solidFill>
          <a:ln w="12700">
            <a:solidFill>
              <a:srgbClr val="3B12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 txBox="1"/>
          <p:nvPr/>
        </p:nvSpPr>
        <p:spPr>
          <a:xfrm>
            <a:off x="8321040" y="19659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assists, a person decides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8321040" y="2926080"/>
            <a:ext cx="31089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prepares the analysis. A named person makes the call or signs.</a:t>
            </a:r>
            <a:endParaRPr lang="en-US" sz="21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6692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task gets AI help. What changes is how much you check and who owns the decision.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me sort one: the prompt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task: Walt wants every travel expense over $5,000 from last month.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548640" y="2194560"/>
            <a:ext cx="110642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548640" y="5577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the audience, the threshold, the fields, and what to flag.</a:t>
            </a:r>
            <a:endParaRPr lang="en-US" sz="18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4EEEAA0-4058-EC22-5BF9-262D45BD56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584" y="2286000"/>
            <a:ext cx="9886461" cy="293471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me sort one: prove it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530352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109728" cy="30175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 txBox="1"/>
          <p:nvPr/>
        </p:nvSpPr>
        <p:spPr>
          <a:xfrm>
            <a:off x="822960" y="19659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AI’s answer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6309360" y="1828800"/>
            <a:ext cx="530352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54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309360" y="1965960"/>
            <a:ext cx="109728" cy="3017520"/>
          </a:xfrm>
          <a:prstGeom prst="rect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6583680" y="19659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check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6583680" y="260604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filter the file myself and count 14, the same as Claude. Total: $88,070. Claude also noted an expense of exactly $5,000.00 that it left off, because my prompt said “over.”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4864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did the work. My check confirmed it and surfaced a judgment call.</a:t>
            </a:r>
            <a:endParaRPr lang="en-US" sz="24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106B316-8276-5C00-263F-399428296C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2058" y="2415046"/>
            <a:ext cx="3256671" cy="255086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this task lands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1106424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109728" cy="1737360"/>
          </a:xfrm>
          <a:prstGeom prst="rect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 txBox="1"/>
          <p:nvPr/>
        </p:nvSpPr>
        <p:spPr>
          <a:xfrm>
            <a:off x="822960" y="19659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helps, a person checks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6060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does the heavy lifting. I verify the count and totals. Walt decides about the flagged items, and whether the $5,000 line includes $5,000.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548640" y="4206240"/>
            <a:ext cx="3566160" cy="1188720"/>
          </a:xfrm>
          <a:prstGeom prst="roundRect">
            <a:avLst>
              <a:gd name="adj" fmla="val 7692"/>
            </a:avLst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548640" y="420624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AI did well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4297680" y="4206240"/>
            <a:ext cx="3566160" cy="1188720"/>
          </a:xfrm>
          <a:prstGeom prst="roundRect">
            <a:avLst>
              <a:gd name="adj" fmla="val 7692"/>
            </a:avLst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 txBox="1"/>
          <p:nvPr/>
        </p:nvSpPr>
        <p:spPr>
          <a:xfrm>
            <a:off x="4297680" y="420624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checked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8046720" y="4206240"/>
            <a:ext cx="3566160" cy="1188720"/>
          </a:xfrm>
          <a:prstGeom prst="roundRect">
            <a:avLst>
              <a:gd name="adj" fmla="val 7692"/>
            </a:avLst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 txBox="1"/>
          <p:nvPr/>
        </p:nvSpPr>
        <p:spPr>
          <a:xfrm>
            <a:off x="8046720" y="420624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owns the decision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this reasoning on all 10 of your tasks.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Velox Responsible AI Policy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2011680"/>
            <a:ext cx="2103120" cy="2377440"/>
          </a:xfrm>
          <a:prstGeom prst="roundRect">
            <a:avLst>
              <a:gd name="adj" fmla="val 4348"/>
            </a:avLst>
          </a:prstGeom>
          <a:solidFill>
            <a:srgbClr val="C8102E"/>
          </a:solidFill>
          <a:ln w="254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 txBox="1"/>
          <p:nvPr/>
        </p:nvSpPr>
        <p:spPr>
          <a:xfrm>
            <a:off x="548640" y="21031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1B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92608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Confidentiality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2788920" y="2011680"/>
            <a:ext cx="2103120" cy="2377440"/>
          </a:xfrm>
          <a:prstGeom prst="roundRect">
            <a:avLst>
              <a:gd name="adj" fmla="val 4348"/>
            </a:avLst>
          </a:prstGeom>
          <a:solidFill>
            <a:srgbClr val="3B1217"/>
          </a:solidFill>
          <a:ln w="254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 txBox="1"/>
          <p:nvPr/>
        </p:nvSpPr>
        <p:spPr>
          <a:xfrm>
            <a:off x="2788920" y="21031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1B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2788920" y="292608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5029200" y="2011680"/>
            <a:ext cx="2103120" cy="2377440"/>
          </a:xfrm>
          <a:prstGeom prst="roundRect">
            <a:avLst>
              <a:gd name="adj" fmla="val 4348"/>
            </a:avLst>
          </a:prstGeom>
          <a:solidFill>
            <a:srgbClr val="C8102E"/>
          </a:solidFill>
          <a:ln w="254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 txBox="1"/>
          <p:nvPr/>
        </p:nvSpPr>
        <p:spPr>
          <a:xfrm>
            <a:off x="5029200" y="21031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1B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5029200" y="292608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7269480" y="2011680"/>
            <a:ext cx="2103120" cy="2377440"/>
          </a:xfrm>
          <a:prstGeom prst="roundRect">
            <a:avLst>
              <a:gd name="adj" fmla="val 4348"/>
            </a:avLst>
          </a:prstGeom>
          <a:solidFill>
            <a:srgbClr val="3B1217"/>
          </a:solidFill>
          <a:ln w="254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 txBox="1"/>
          <p:nvPr/>
        </p:nvSpPr>
        <p:spPr>
          <a:xfrm>
            <a:off x="7269480" y="21031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1B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600" dirty="0"/>
          </a:p>
        </p:txBody>
      </p:sp>
      <p:sp>
        <p:nvSpPr>
          <p:cNvPr id="16" name="Text 13"/>
          <p:cNvSpPr txBox="1"/>
          <p:nvPr/>
        </p:nvSpPr>
        <p:spPr>
          <a:xfrm>
            <a:off x="7269480" y="292608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Transparency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9509760" y="2011680"/>
            <a:ext cx="2103120" cy="2377440"/>
          </a:xfrm>
          <a:prstGeom prst="roundRect">
            <a:avLst>
              <a:gd name="adj" fmla="val 4348"/>
            </a:avLst>
          </a:prstGeom>
          <a:solidFill>
            <a:srgbClr val="C8102E"/>
          </a:solidFill>
          <a:ln w="254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 txBox="1"/>
          <p:nvPr/>
        </p:nvSpPr>
        <p:spPr>
          <a:xfrm>
            <a:off x="9509760" y="21031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1B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600" dirty="0"/>
          </a:p>
        </p:txBody>
      </p:sp>
      <p:sp>
        <p:nvSpPr>
          <p:cNvPr id="19" name="Text 16"/>
          <p:cNvSpPr txBox="1"/>
          <p:nvPr/>
        </p:nvSpPr>
        <p:spPr>
          <a:xfrm>
            <a:off x="9509760" y="292608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</a:t>
            </a:r>
            <a:endParaRPr lang="en-US" sz="19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48463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confidential data out of unapproved tools. Check it. Watch for bias. Disclose AI help. A person is accountable.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810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B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week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822960" y="2194560"/>
            <a:ext cx="914400" cy="914400"/>
          </a:xfrm>
          <a:prstGeom prst="ellipse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 txBox="1"/>
          <p:nvPr/>
        </p:nvSpPr>
        <p:spPr>
          <a:xfrm>
            <a:off x="822960" y="21945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29184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2423160" y="2194560"/>
            <a:ext cx="914400" cy="914400"/>
          </a:xfrm>
          <a:prstGeom prst="ellipse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 txBox="1"/>
          <p:nvPr/>
        </p:nvSpPr>
        <p:spPr>
          <a:xfrm>
            <a:off x="2423160" y="21945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2148840" y="329184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023360" y="2194560"/>
            <a:ext cx="914400" cy="914400"/>
          </a:xfrm>
          <a:prstGeom prst="ellipse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 txBox="1"/>
          <p:nvPr/>
        </p:nvSpPr>
        <p:spPr>
          <a:xfrm>
            <a:off x="4023360" y="21945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3749040" y="329184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5623560" y="2194560"/>
            <a:ext cx="914400" cy="914400"/>
          </a:xfrm>
          <a:prstGeom prst="ellipse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 txBox="1"/>
          <p:nvPr/>
        </p:nvSpPr>
        <p:spPr>
          <a:xfrm>
            <a:off x="5623560" y="21945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5349240" y="329184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 + coach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223760" y="2194560"/>
            <a:ext cx="914400" cy="914400"/>
          </a:xfrm>
          <a:prstGeom prst="ellipse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 txBox="1"/>
          <p:nvPr/>
        </p:nvSpPr>
        <p:spPr>
          <a:xfrm>
            <a:off x="7223760" y="21945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6949440" y="329184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8823960" y="2194560"/>
            <a:ext cx="914400" cy="914400"/>
          </a:xfrm>
          <a:prstGeom prst="ellipse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 txBox="1"/>
          <p:nvPr/>
        </p:nvSpPr>
        <p:spPr>
          <a:xfrm>
            <a:off x="8823960" y="21945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22" name="Text 19"/>
          <p:cNvSpPr txBox="1"/>
          <p:nvPr/>
        </p:nvSpPr>
        <p:spPr>
          <a:xfrm>
            <a:off x="8549640" y="329184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10424160" y="2194560"/>
            <a:ext cx="914400" cy="914400"/>
          </a:xfrm>
          <a:prstGeom prst="ellipse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 txBox="1"/>
          <p:nvPr/>
        </p:nvSpPr>
        <p:spPr>
          <a:xfrm>
            <a:off x="10424160" y="21945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000" dirty="0"/>
          </a:p>
        </p:txBody>
      </p:sp>
      <p:sp>
        <p:nvSpPr>
          <p:cNvPr id="25" name="Text 22"/>
          <p:cNvSpPr txBox="1"/>
          <p:nvPr/>
        </p:nvSpPr>
        <p:spPr>
          <a:xfrm>
            <a:off x="10149840" y="329184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48463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Friday: a memo Priya can act on.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1576</Words>
  <Application>Microsoft Office PowerPoint</Application>
  <PresentationFormat>Widescreen</PresentationFormat>
  <Paragraphs>115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 slides: AI as a Capability</dc:title>
  <dc:subject>PptxGenJS Presentation</dc:subject>
  <dc:creator>Tallgrass Advisory (course scenario)</dc:creator>
  <cp:lastModifiedBy>Brad Trinkle</cp:lastModifiedBy>
  <cp:revision>1</cp:revision>
  <dcterms:created xsi:type="dcterms:W3CDTF">2026-10-19T13:02:32Z</dcterms:created>
  <dcterms:modified xsi:type="dcterms:W3CDTF">2026-10-19T15:20:10Z</dcterms:modified>
</cp:coreProperties>
</file>