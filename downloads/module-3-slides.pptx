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731520" y="14630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3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731520" y="201168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Thinking Through Work with AI</a:t>
            </a:r>
            <a:endParaRPr lang="en-US" sz="50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Walt wants to see how AI got its answer.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Jordan Reyes is a fictional character presented by an AI avatar.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Walt’s problem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1874520"/>
            <a:ext cx="109728" cy="19202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Books say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$3,016,600.35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30352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309360" y="1874520"/>
            <a:ext cx="109728" cy="192024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5836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says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5146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$2,896,663.23</a:t>
            </a:r>
            <a:endParaRPr lang="en-US" sz="34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4297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every difference, and both sides end at the same true balance.</a:t>
            </a:r>
            <a:endParaRPr lang="en-US" sz="2600" dirty="0"/>
          </a:p>
        </p:txBody>
      </p:sp>
      <p:sp>
        <p:nvSpPr>
          <p:cNvPr id="14" name="Text 11"/>
          <p:cNvSpPr txBox="1"/>
          <p:nvPr/>
        </p:nvSpPr>
        <p:spPr>
          <a:xfrm>
            <a:off x="548640" y="51206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bank reconciliation takes most of a day each month.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big request is risky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035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1874520"/>
            <a:ext cx="109728" cy="292608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request for everything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finished-looking answer. A wrong step is buried inside it.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30352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309360" y="1874520"/>
            <a:ext cx="109728" cy="292608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5836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small steps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514600"/>
            <a:ext cx="484632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result is small enough to check before the next one builds on it.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 jobs fail when the thinking is hidden.</a:t>
            </a:r>
            <a:endParaRPr lang="en-US" sz="2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job into steps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4864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Match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up the two records and find the leftovers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3383280" y="173736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38328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38328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Classify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what each leftover is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217920" y="173736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21792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621792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Compute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635508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reconciliation and the totals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9052560" y="1737360"/>
            <a:ext cx="2651760" cy="2926080"/>
          </a:xfrm>
          <a:prstGeom prst="roundRect">
            <a:avLst>
              <a:gd name="adj" fmla="val 3448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9052560" y="182880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</a:t>
            </a:r>
            <a:endParaRPr lang="en-US" sz="3400" dirty="0"/>
          </a:p>
        </p:txBody>
      </p:sp>
      <p:sp>
        <p:nvSpPr>
          <p:cNvPr id="19" name="Text 16"/>
          <p:cNvSpPr txBox="1"/>
          <p:nvPr/>
        </p:nvSpPr>
        <p:spPr>
          <a:xfrm>
            <a:off x="9052560" y="25146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</a:t>
            </a:r>
            <a:endParaRPr lang="en-US" sz="2600" dirty="0"/>
          </a:p>
        </p:txBody>
      </p:sp>
      <p:sp>
        <p:nvSpPr>
          <p:cNvPr id="20" name="Text 17"/>
          <p:cNvSpPr txBox="1"/>
          <p:nvPr/>
        </p:nvSpPr>
        <p:spPr>
          <a:xfrm>
            <a:off x="9189720" y="31546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reviews its own work</a:t>
            </a:r>
            <a:endParaRPr lang="en-US" sz="1900" dirty="0"/>
          </a:p>
        </p:txBody>
      </p:sp>
      <p:sp>
        <p:nvSpPr>
          <p:cNvPr id="21" name="Shape 18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decomposition (prompt chaining)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step is small enough to check, so mistakes are caught early. You fix step two before step three builds on it.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reasoning and assumptions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1874520"/>
            <a:ext cx="109728" cy="2651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Instead of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“Outstanding check.”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309360" y="1874520"/>
            <a:ext cx="109728" cy="26517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5836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want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Why, which line it relied on, and what it assumed.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Chain-of-thought prompting, with stated assumptions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visible reason can be checked against the source. A named assumption shows where a human judgment is needed.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AI challenge itself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1874520"/>
            <a:ext cx="109728" cy="2651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it to hunt for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it missed, counted twice, put on the wrong side, or added with no source.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309360" y="1874520"/>
            <a:ext cx="109728" cy="26517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5836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remember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can say “all good” when it isn’t. A self-review is a clue, not proof.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Self-critique (red-team prompting)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pass with a different job, “find what is wrong,” catches things the first pass missed.</a:t>
            </a:r>
            <a:endParaRPr lang="en-US" sz="2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 twice and compare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1874520"/>
            <a:ext cx="109728" cy="2651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task, new chat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run cannot see the first answer.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309360" y="1874520"/>
            <a:ext cx="109728" cy="26517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5836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show where to check first. Agreement is not proof.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Self-consistency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between runs point to the shaky items, and agreement raises your confidence a little.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it against the source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548640" y="18288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Recompute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1546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totals in a spreadsheet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429768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3B1217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4297680" y="18288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429768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4480560" y="31546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each item by date, reference, and amount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8046720" y="1737360"/>
            <a:ext cx="3566160" cy="2926080"/>
          </a:xfrm>
          <a:prstGeom prst="roundRect">
            <a:avLst>
              <a:gd name="adj" fmla="val 3125"/>
            </a:avLst>
          </a:prstGeom>
          <a:solidFill>
            <a:srgbClr val="C8102E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8046720" y="1828800"/>
            <a:ext cx="3566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1BE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2514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Look for gaps</a:t>
            </a:r>
            <a:endParaRPr lang="en-US" sz="26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0" y="3154680"/>
            <a:ext cx="3200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items, and any plug with no source line</a:t>
            </a:r>
            <a:endParaRPr lang="en-US" sz="1900" dirty="0"/>
          </a:p>
        </p:txBody>
      </p:sp>
      <p:sp>
        <p:nvSpPr>
          <p:cNvPr id="17" name="Shape 14"/>
          <p:cNvSpPr/>
          <p:nvPr/>
        </p:nvSpPr>
        <p:spPr>
          <a:xfrm>
            <a:off x="548640" y="489204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822960" y="4937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Technique: </a:t>
            </a:r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Verification against the source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helps: </a:t>
            </a:r>
            <a:pPr indent="0" marL="0">
              <a:buNone/>
            </a:pPr>
            <a:r>
              <a:rPr lang="en-US" sz="2000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turns “it looks right” into “I confirmed it.” A spreadsheet adds exactly, and a source line is evidence.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checking looks like (made-up example)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6" name="Text 3"/>
          <p:cNvSpPr txBox="1"/>
          <p:nvPr/>
        </p:nvSpPr>
        <p:spPr>
          <a:xfrm>
            <a:off x="777240" y="164592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says outstanding checks total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583680" y="164592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12,900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548640" y="274320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25400">
            <a:solidFill>
              <a:srgbClr val="3B1217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777240" y="274320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lists 5,400 + 4,300 + 2,900 =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583680" y="274320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12,600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9144000" y="2907792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9144000" y="290779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Slip of 300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48640" y="3840480"/>
            <a:ext cx="11064240" cy="960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25400">
            <a:solidFill>
              <a:srgbClr val="3B1217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777240" y="3840480"/>
            <a:ext cx="5852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“Miscellaneous adjustment, 300”</a:t>
            </a:r>
            <a:endParaRPr lang="en-US" sz="20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3840480"/>
            <a:ext cx="23774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source line</a:t>
            </a:r>
            <a:endParaRPr lang="en-US" sz="2400" dirty="0"/>
          </a:p>
        </p:txBody>
      </p:sp>
      <p:sp>
        <p:nvSpPr>
          <p:cNvPr id="16" name="Shape 13"/>
          <p:cNvSpPr/>
          <p:nvPr/>
        </p:nvSpPr>
        <p:spPr>
          <a:xfrm>
            <a:off x="9144000" y="4005072"/>
            <a:ext cx="2286000" cy="640080"/>
          </a:xfrm>
          <a:prstGeom prst="roundRect">
            <a:avLst>
              <a:gd name="adj" fmla="val 50000"/>
            </a:avLst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9144000" y="4005072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plug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206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Made-up numbers on purpose, so this does not give away your assignment.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Accuracy: who is accountable</a:t>
            </a:r>
            <a:endParaRPr lang="en-US" sz="3400" dirty="0"/>
          </a:p>
        </p:txBody>
      </p:sp>
      <p:sp>
        <p:nvSpPr>
          <p:cNvPr id="5" name="Shape 2"/>
          <p:cNvSpPr/>
          <p:nvPr/>
        </p:nvSpPr>
        <p:spPr>
          <a:xfrm>
            <a:off x="54864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6" name="Shape 3"/>
          <p:cNvSpPr/>
          <p:nvPr/>
        </p:nvSpPr>
        <p:spPr>
          <a:xfrm>
            <a:off x="548640" y="1874520"/>
            <a:ext cx="109728" cy="265176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82296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C81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name on a number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accountable for it, whether you or AI produced it.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309360" y="1737360"/>
            <a:ext cx="5303520" cy="2926080"/>
          </a:xfrm>
          <a:prstGeom prst="roundRect">
            <a:avLst>
              <a:gd name="adj" fmla="val 3125"/>
            </a:avLst>
          </a:prstGeom>
          <a:solidFill>
            <a:srgbClr val="FFFFFF"/>
          </a:solidFill>
          <a:ln w="254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0" name="Shape 7"/>
          <p:cNvSpPr/>
          <p:nvPr/>
        </p:nvSpPr>
        <p:spPr>
          <a:xfrm>
            <a:off x="6309360" y="1874520"/>
            <a:ext cx="109728" cy="2651760"/>
          </a:xfrm>
          <a:prstGeom prst="rect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6583680" y="187452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B12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</a:t>
            </a:r>
            <a:endParaRPr lang="en-US" sz="2400" dirty="0"/>
          </a:p>
        </p:txBody>
      </p:sp>
      <p:sp>
        <p:nvSpPr>
          <p:cNvPr id="12" name="Text 9"/>
          <p:cNvSpPr txBox="1"/>
          <p:nvPr/>
        </p:nvSpPr>
        <p:spPr>
          <a:xfrm>
            <a:off x="6583680" y="2514600"/>
            <a:ext cx="48463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how far you checked. An unresolved item beats a forced agreement.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50292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10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Policy area 2: Accuracy.</a:t>
            </a:r>
            <a:endParaRPr lang="en-US" sz="2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810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1BE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Tallgrass Advisory · Module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week</a:t>
            </a:r>
            <a:endParaRPr lang="en-US" sz="3400" dirty="0"/>
          </a:p>
        </p:txBody>
      </p:sp>
      <p:sp>
        <p:nvSpPr>
          <p:cNvPr id="27" name="Shape 2"/>
          <p:cNvSpPr/>
          <p:nvPr/>
        </p:nvSpPr>
        <p:spPr>
          <a:xfrm>
            <a:off x="8229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28" name="Text 3"/>
          <p:cNvSpPr txBox="1"/>
          <p:nvPr/>
        </p:nvSpPr>
        <p:spPr>
          <a:xfrm>
            <a:off x="8229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29" name="Text 4"/>
          <p:cNvSpPr txBox="1"/>
          <p:nvPr/>
        </p:nvSpPr>
        <p:spPr>
          <a:xfrm>
            <a:off x="5760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brief</a:t>
            </a:r>
            <a:endParaRPr lang="en-US" sz="1600" dirty="0"/>
          </a:p>
        </p:txBody>
      </p:sp>
      <p:sp>
        <p:nvSpPr>
          <p:cNvPr id="30" name="Shape 2"/>
          <p:cNvSpPr/>
          <p:nvPr/>
        </p:nvSpPr>
        <p:spPr>
          <a:xfrm>
            <a:off x="21945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31" name="Text 3"/>
          <p:cNvSpPr txBox="1"/>
          <p:nvPr/>
        </p:nvSpPr>
        <p:spPr>
          <a:xfrm>
            <a:off x="21945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32" name="Text 4"/>
          <p:cNvSpPr txBox="1"/>
          <p:nvPr/>
        </p:nvSpPr>
        <p:spPr>
          <a:xfrm>
            <a:off x="19476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first</a:t>
            </a:r>
            <a:endParaRPr lang="en-US" sz="1600" dirty="0"/>
          </a:p>
        </p:txBody>
      </p:sp>
      <p:sp>
        <p:nvSpPr>
          <p:cNvPr id="33" name="Shape 2"/>
          <p:cNvSpPr/>
          <p:nvPr/>
        </p:nvSpPr>
        <p:spPr>
          <a:xfrm>
            <a:off x="3566159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34" name="Text 3"/>
          <p:cNvSpPr txBox="1"/>
          <p:nvPr/>
        </p:nvSpPr>
        <p:spPr>
          <a:xfrm>
            <a:off x="3566159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35" name="Text 4"/>
          <p:cNvSpPr txBox="1"/>
          <p:nvPr/>
        </p:nvSpPr>
        <p:spPr>
          <a:xfrm>
            <a:off x="33192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</a:t>
            </a:r>
            <a:endParaRPr lang="en-US" sz="1600" dirty="0"/>
          </a:p>
        </p:txBody>
      </p:sp>
      <p:sp>
        <p:nvSpPr>
          <p:cNvPr id="36" name="Shape 2"/>
          <p:cNvSpPr/>
          <p:nvPr/>
        </p:nvSpPr>
        <p:spPr>
          <a:xfrm>
            <a:off x="4937759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37" name="Text 3"/>
          <p:cNvSpPr txBox="1"/>
          <p:nvPr/>
        </p:nvSpPr>
        <p:spPr>
          <a:xfrm>
            <a:off x="4937759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38" name="Text 4"/>
          <p:cNvSpPr txBox="1"/>
          <p:nvPr/>
        </p:nvSpPr>
        <p:spPr>
          <a:xfrm>
            <a:off x="46908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Ethics checkpoint</a:t>
            </a:r>
            <a:endParaRPr lang="en-US" sz="1600" dirty="0"/>
          </a:p>
        </p:txBody>
      </p:sp>
      <p:sp>
        <p:nvSpPr>
          <p:cNvPr id="39" name="Shape 2"/>
          <p:cNvSpPr/>
          <p:nvPr/>
        </p:nvSpPr>
        <p:spPr>
          <a:xfrm>
            <a:off x="6309359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40" name="Text 3"/>
          <p:cNvSpPr txBox="1"/>
          <p:nvPr/>
        </p:nvSpPr>
        <p:spPr>
          <a:xfrm>
            <a:off x="6309359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41" name="Text 4"/>
          <p:cNvSpPr txBox="1"/>
          <p:nvPr/>
        </p:nvSpPr>
        <p:spPr>
          <a:xfrm>
            <a:off x="60624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attempt and coach feedback</a:t>
            </a:r>
            <a:endParaRPr lang="en-US" sz="1600" dirty="0"/>
          </a:p>
        </p:txBody>
      </p:sp>
      <p:sp>
        <p:nvSpPr>
          <p:cNvPr id="42" name="Shape 2"/>
          <p:cNvSpPr/>
          <p:nvPr/>
        </p:nvSpPr>
        <p:spPr>
          <a:xfrm>
            <a:off x="76809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43" name="Text 3"/>
          <p:cNvSpPr txBox="1"/>
          <p:nvPr/>
        </p:nvSpPr>
        <p:spPr>
          <a:xfrm>
            <a:off x="76809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44" name="Text 4"/>
          <p:cNvSpPr txBox="1"/>
          <p:nvPr/>
        </p:nvSpPr>
        <p:spPr>
          <a:xfrm>
            <a:off x="7434071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attempt</a:t>
            </a:r>
            <a:endParaRPr lang="en-US" sz="1600" dirty="0"/>
          </a:p>
        </p:txBody>
      </p:sp>
      <p:sp>
        <p:nvSpPr>
          <p:cNvPr id="45" name="Shape 2"/>
          <p:cNvSpPr/>
          <p:nvPr/>
        </p:nvSpPr>
        <p:spPr>
          <a:xfrm>
            <a:off x="90525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46" name="Text 3"/>
          <p:cNvSpPr txBox="1"/>
          <p:nvPr/>
        </p:nvSpPr>
        <p:spPr>
          <a:xfrm>
            <a:off x="90525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3000" dirty="0"/>
          </a:p>
        </p:txBody>
      </p:sp>
      <p:sp>
        <p:nvSpPr>
          <p:cNvPr id="47" name="Text 4"/>
          <p:cNvSpPr txBox="1"/>
          <p:nvPr/>
        </p:nvSpPr>
        <p:spPr>
          <a:xfrm>
            <a:off x="88056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600" dirty="0"/>
          </a:p>
        </p:txBody>
      </p:sp>
      <p:sp>
        <p:nvSpPr>
          <p:cNvPr id="48" name="Shape 2"/>
          <p:cNvSpPr/>
          <p:nvPr/>
        </p:nvSpPr>
        <p:spPr>
          <a:xfrm>
            <a:off x="10424160" y="2011680"/>
            <a:ext cx="822960" cy="822960"/>
          </a:xfrm>
          <a:prstGeom prst="ellipse">
            <a:avLst/>
          </a:prstGeom>
          <a:solidFill>
            <a:srgbClr val="F1BE48"/>
          </a:solidFill>
          <a:ln w="12700">
            <a:solidFill>
              <a:srgbClr val="F1BE48"/>
            </a:solidFill>
            <a:prstDash val="solid"/>
          </a:ln>
        </p:spPr>
        <p:txBody>
          <a:bodyPr/>
          <a:p/>
        </p:txBody>
      </p:sp>
      <p:sp>
        <p:nvSpPr>
          <p:cNvPr id="49" name="Text 3"/>
          <p:cNvSpPr txBox="1"/>
          <p:nvPr/>
        </p:nvSpPr>
        <p:spPr>
          <a:xfrm>
            <a:off x="10424160" y="201168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3B121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50" name="Text 4"/>
          <p:cNvSpPr txBox="1"/>
          <p:nvPr/>
        </p:nvSpPr>
        <p:spPr>
          <a:xfrm>
            <a:off x="10177272" y="2971800"/>
            <a:ext cx="131673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Reflection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484632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goal: a checked reconciliation and a reusable template.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3 slides: Thinking Through Work with AI</dc:title>
  <dc:subject>PptxGenJS Presentation</dc:subject>
  <dc:creator>Tallgrass Advisory (course scenario)</dc:creator>
  <cp:lastModifiedBy>Tallgrass Advisory (course scenario)</cp:lastModifiedBy>
  <cp:revision>1</cp:revision>
  <dcterms:created xsi:type="dcterms:W3CDTF">2026-10-20T02:59:28Z</dcterms:created>
  <dcterms:modified xsi:type="dcterms:W3CDTF">2026-10-20T02:59:28Z</dcterms:modified>
</cp:coreProperties>
</file>