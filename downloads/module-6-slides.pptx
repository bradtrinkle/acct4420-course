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6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Auditing: Follow the Money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tip, a ledger, and a pile of messy records.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Reyes is a fictional character presented by an AI avatar.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Nadia’s situation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3B1217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916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“Something is not right with a vendor that was set up very fast in Purchasing. I do not want to give any names.”  Anonymous hotline tip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29184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2,000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3434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in the Q3 ledger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297680" y="329184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3B121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9768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800" dirty="0"/>
          </a:p>
        </p:txBody>
      </p:sp>
      <p:sp>
        <p:nvSpPr>
          <p:cNvPr id="12" name="Text 9"/>
          <p:cNvSpPr txBox="1"/>
          <p:nvPr/>
        </p:nvSpPr>
        <p:spPr>
          <a:xfrm>
            <a:off x="4297680" y="43434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invoice records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046720" y="329184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3B121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4672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15" name="Text 12"/>
          <p:cNvSpPr txBox="1"/>
          <p:nvPr/>
        </p:nvSpPr>
        <p:spPr>
          <a:xfrm>
            <a:off x="8046720" y="43434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the vendor list and Nadia’s notes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Nadia decides what happens next. No names in a report on the strength of a pattern.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Indicators are leads, not proof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85216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74520"/>
            <a:ext cx="109728" cy="33832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74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auditors look for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423160"/>
            <a:ext cx="5303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just under the approval limit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invoices on the same day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purchase order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“pay today” requests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set up recently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person sets up and approves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675120" y="1737360"/>
            <a:ext cx="493776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0" y="1874520"/>
            <a:ext cx="109728" cy="338328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49440" y="1874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matters most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251460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indicator is not proof. Each one has innocent explanations. People gather documents and decide. A spreadsheet pattern does not.</a:t>
            </a:r>
            <a:endParaRPr lang="en-US" sz="2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Wrongly accusing someone harms a real person.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Benford’s Law: how often each first digit appears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share of amounts by first digit (%)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005840" y="4846320"/>
            <a:ext cx="6400800" cy="0"/>
          </a:xfrm>
          <a:prstGeom prst="line">
            <a:avLst/>
          </a:prstGeom>
          <a:noFill/>
          <a:ln w="9525">
            <a:solidFill>
              <a:srgbClr val="E3D8D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709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5840" y="4036423"/>
            <a:ext cx="6400800" cy="0"/>
          </a:xfrm>
          <a:prstGeom prst="line">
            <a:avLst/>
          </a:prstGeom>
          <a:noFill/>
          <a:ln w="9525">
            <a:solidFill>
              <a:srgbClr val="E3D8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899263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05840" y="3226526"/>
            <a:ext cx="6400800" cy="0"/>
          </a:xfrm>
          <a:prstGeom prst="line">
            <a:avLst/>
          </a:prstGeom>
          <a:noFill/>
          <a:ln w="9525">
            <a:solidFill>
              <a:srgbClr val="E3D8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08936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05840" y="2416629"/>
            <a:ext cx="6400800" cy="0"/>
          </a:xfrm>
          <a:prstGeom prst="line">
            <a:avLst/>
          </a:prstGeom>
          <a:noFill/>
          <a:ln w="9525">
            <a:solidFill>
              <a:srgbClr val="E3D8D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279469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32840" y="2408530"/>
            <a:ext cx="457200" cy="243779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95680" y="211592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30.1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4892040"/>
            <a:ext cx="71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844040" y="3420901"/>
            <a:ext cx="457200" cy="1425419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706880" y="3128293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717040" y="4892040"/>
            <a:ext cx="71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555240" y="3833949"/>
            <a:ext cx="457200" cy="1012371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418080" y="3541341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428240" y="4892040"/>
            <a:ext cx="71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266440" y="4060720"/>
            <a:ext cx="457200" cy="7856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129280" y="37681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139440" y="4892040"/>
            <a:ext cx="71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977640" y="4206501"/>
            <a:ext cx="457200" cy="639819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840480" y="3913893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3850640" y="4892040"/>
            <a:ext cx="71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688840" y="4303689"/>
            <a:ext cx="457200" cy="542631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551680" y="4011081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4561840" y="4892040"/>
            <a:ext cx="71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400040" y="4376580"/>
            <a:ext cx="457200" cy="4697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262880" y="40839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5273040" y="4892040"/>
            <a:ext cx="71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111240" y="4433272"/>
            <a:ext cx="457200" cy="41304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974080" y="4140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984240" y="4892040"/>
            <a:ext cx="71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822440" y="4473767"/>
            <a:ext cx="457200" cy="372553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685280" y="4181159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6695440" y="4892040"/>
            <a:ext cx="71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1005840" y="5212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digit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7772400" y="155448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772400" y="1691640"/>
            <a:ext cx="109728" cy="15544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046720" y="1691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closer when</a:t>
            </a:r>
            <a:endParaRPr lang="en-US" sz="2200" dirty="0"/>
          </a:p>
        </p:txBody>
      </p:sp>
      <p:sp>
        <p:nvSpPr>
          <p:cNvPr id="45" name="Text 42"/>
          <p:cNvSpPr txBox="1"/>
          <p:nvPr/>
        </p:nvSpPr>
        <p:spPr>
          <a:xfrm>
            <a:off x="8046720" y="2331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 is off by about 2 points or more, too high or too low.</a:t>
            </a:r>
            <a:endParaRPr lang="en-US" sz="2000" dirty="0"/>
          </a:p>
        </p:txBody>
      </p:sp>
      <p:sp>
        <p:nvSpPr>
          <p:cNvPr id="46" name="Shape 43"/>
          <p:cNvSpPr/>
          <p:nvPr/>
        </p:nvSpPr>
        <p:spPr>
          <a:xfrm>
            <a:off x="7772400" y="356616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772400" y="3703320"/>
            <a:ext cx="109728" cy="182880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46720" y="3703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honest data breaks it too</a:t>
            </a:r>
            <a:endParaRPr lang="en-US" sz="2200" dirty="0"/>
          </a:p>
        </p:txBody>
      </p:sp>
      <p:sp>
        <p:nvSpPr>
          <p:cNvPr id="49" name="Text 46"/>
          <p:cNvSpPr txBox="1"/>
          <p:nvPr/>
        </p:nvSpPr>
        <p:spPr>
          <a:xfrm>
            <a:off x="8046720" y="43434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monthly fee, or amounts in a narrow range.</a:t>
            </a:r>
            <a:endParaRPr lang="en-US" sz="2000" dirty="0"/>
          </a:p>
        </p:txBody>
      </p:sp>
      <p:sp>
        <p:nvSpPr>
          <p:cNvPr id="50" name="Text 47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gap is a reason to look, not proof.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a made-up supplier (Maple Ridge Dairy Co-op)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5778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Claude was given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8600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invoice records (emails and forms)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ledger of 1,106 payments for one quarter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made-up co-op, not Velox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0" y="164592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2940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requests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224028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Put the records in a table with these columns. Write “not stated” if a fact is missing. Do no math. Quote the words used for the amount.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Use code to run a Benford test. Name the vendors behind any gap, give innocent explanations, and say what you could not tell. Do not say anyone committed fraud.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1: what Claude returned (real output)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38912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date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13232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60120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number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1965960"/>
            <a:ext cx="11064240" cy="868680"/>
          </a:xfrm>
          <a:prstGeom prst="rect">
            <a:avLst/>
          </a:prstGeom>
          <a:solidFill>
            <a:srgbClr val="F3E3E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19659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1965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Dairy Equipment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389120" y="1965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stated (“May 14”, no year)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132320" y="1965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6,880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0" y="19659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stated (“no PO yet”)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2926080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29260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645920" y="2926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Co-op Trucking Lease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4389120" y="2926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stated (month/day order unclear)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7132320" y="29260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2,450.00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0" y="29260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stated (contract no. only)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11064240" cy="868680"/>
          </a:xfrm>
          <a:prstGeom prst="rect">
            <a:avLst/>
          </a:prstGeom>
          <a:solidFill>
            <a:srgbClr val="F3E3E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388620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1645920" y="3886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Hartwell Veterinary Supply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4389120" y="3886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2026-06-09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7132320" y="38862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stated (“about $3.2k”)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9601200" y="38862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88104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" y="5074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</a:t>
            </a:r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fact is shown as missing. Claude did not guess a year, a PO number, or a final amount.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2: the Benford test (real output)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First-digit share of 1,106 payments (%)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005840" y="5212080"/>
            <a:ext cx="6766560" cy="0"/>
          </a:xfrm>
          <a:prstGeom prst="line">
            <a:avLst/>
          </a:prstGeom>
          <a:noFill/>
          <a:ln w="9525">
            <a:solidFill>
              <a:srgbClr val="E3D8D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5074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5840" y="4297680"/>
            <a:ext cx="6766560" cy="0"/>
          </a:xfrm>
          <a:prstGeom prst="line">
            <a:avLst/>
          </a:prstGeom>
          <a:noFill/>
          <a:ln w="9525">
            <a:solidFill>
              <a:srgbClr val="E3D8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4160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05840" y="3383280"/>
            <a:ext cx="6766560" cy="0"/>
          </a:xfrm>
          <a:prstGeom prst="line">
            <a:avLst/>
          </a:prstGeom>
          <a:noFill/>
          <a:ln w="9525">
            <a:solidFill>
              <a:srgbClr val="E3D8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246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05840" y="2468880"/>
            <a:ext cx="6766560" cy="0"/>
          </a:xfrm>
          <a:prstGeom prst="line">
            <a:avLst/>
          </a:prstGeom>
          <a:noFill/>
          <a:ln w="9525">
            <a:solidFill>
              <a:srgbClr val="E3D8D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81024" y="2542032"/>
            <a:ext cx="300736" cy="267004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381760" y="2459736"/>
            <a:ext cx="300736" cy="2752344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5840" y="5257800"/>
            <a:ext cx="75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832864" y="3191256"/>
            <a:ext cx="300736" cy="202082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133600" y="3602736"/>
            <a:ext cx="300736" cy="1609344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757680" y="5257800"/>
            <a:ext cx="75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584704" y="4224528"/>
            <a:ext cx="300736" cy="9875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885440" y="4069080"/>
            <a:ext cx="300736" cy="114300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509520" y="5257800"/>
            <a:ext cx="75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336544" y="4480560"/>
            <a:ext cx="300736" cy="7315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637280" y="4325112"/>
            <a:ext cx="300736" cy="886968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261360" y="5257800"/>
            <a:ext cx="75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088384" y="4489704"/>
            <a:ext cx="300736" cy="7223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89120" y="4489704"/>
            <a:ext cx="300736" cy="722376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013200" y="5257800"/>
            <a:ext cx="75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840224" y="4389120"/>
            <a:ext cx="300736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140960" y="4599432"/>
            <a:ext cx="300736" cy="612648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65040" y="5257800"/>
            <a:ext cx="75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592064" y="4809744"/>
            <a:ext cx="300736" cy="40233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92800" y="4681728"/>
            <a:ext cx="300736" cy="530352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516880" y="5257800"/>
            <a:ext cx="75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343904" y="4773168"/>
            <a:ext cx="300736" cy="43891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644640" y="4745736"/>
            <a:ext cx="300736" cy="466344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268720" y="5257800"/>
            <a:ext cx="75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095744" y="4864608"/>
            <a:ext cx="300736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396480" y="4791456"/>
            <a:ext cx="300736" cy="420624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020560" y="5257800"/>
            <a:ext cx="75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1005840" y="55778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digit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1005840" y="5925312"/>
            <a:ext cx="228600" cy="2286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325880" y="5870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3383280" y="5925312"/>
            <a:ext cx="228600" cy="22860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703320" y="5870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8138160" y="15544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138160" y="1691640"/>
            <a:ext cx="109728" cy="15544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412480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2</a:t>
            </a:r>
            <a:endParaRPr lang="en-US" sz="2200" dirty="0"/>
          </a:p>
        </p:txBody>
      </p:sp>
      <p:sp>
        <p:nvSpPr>
          <p:cNvPr id="49" name="Text 46"/>
          <p:cNvSpPr txBox="1"/>
          <p:nvPr/>
        </p:nvSpPr>
        <p:spPr>
          <a:xfrm>
            <a:off x="8412480" y="21945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+4.5 points</a:t>
            </a:r>
            <a:endParaRPr lang="en-US" sz="3000" dirty="0"/>
          </a:p>
        </p:txBody>
      </p:sp>
      <p:sp>
        <p:nvSpPr>
          <p:cNvPr id="50" name="Shape 47"/>
          <p:cNvSpPr/>
          <p:nvPr/>
        </p:nvSpPr>
        <p:spPr>
          <a:xfrm>
            <a:off x="8138160" y="356616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138160" y="3703320"/>
            <a:ext cx="109728" cy="15544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412480" y="3703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6</a:t>
            </a:r>
            <a:endParaRPr lang="en-US" sz="2200" dirty="0"/>
          </a:p>
        </p:txBody>
      </p:sp>
      <p:sp>
        <p:nvSpPr>
          <p:cNvPr id="53" name="Text 50"/>
          <p:cNvSpPr txBox="1"/>
          <p:nvPr/>
        </p:nvSpPr>
        <p:spPr>
          <a:xfrm>
            <a:off x="8412480" y="420624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+2.3 points</a:t>
            </a:r>
            <a:endParaRPr lang="en-US" sz="3000" dirty="0"/>
          </a:p>
        </p:txBody>
      </p:sp>
      <p:sp>
        <p:nvSpPr>
          <p:cNvPr id="54" name="Text 51"/>
          <p:cNvSpPr txBox="1"/>
          <p:nvPr/>
        </p:nvSpPr>
        <p:spPr>
          <a:xfrm>
            <a:off x="8138160" y="5486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digit is within 2 points. A gap tells you where to look, not why.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Tracing each gap (real output)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783080"/>
            <a:ext cx="109728" cy="2834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2: Co-op Trucking Lease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60 payments are exactly $2,450.00. Without them, digit 2 is exactly as expected. Likely innocent: a fixed lease for about 20 trucks. Check the contract.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0" y="1783080"/>
            <a:ext cx="109728" cy="2834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6: Northstar Dairy Equipment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4231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46 payments between $6,152.84 and $6,959.71, all approved by one person. Likely innocent: a narrow price band or one account owner. Check purchase orders and receiving records.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Alternative-explanations prompting (a form of devil’s-advocate prompting)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answer follows your question’s framing. Asking for the other side shows which flags are probably harmless.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messy records into a table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783080"/>
            <a:ext cx="109728" cy="2743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AI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columns, each with a format. What to write when a fact is missing: “not stated”. To quote the words it used for the amount.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0" y="1783080"/>
            <a:ext cx="109728" cy="274320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columns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4231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· invoice number · invoice date (YYYY-MM-DD) · amount in dollars · PO number · approved by · exact words for the amount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extraction (schema-based or information extraction)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text you cannot sort into a table you can. The “not stated” rule stops guessing, and the quote lets you spot-check any row.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AI count with code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5400">
            <a:solidFill>
              <a:srgbClr val="3B121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783080"/>
            <a:ext cx="109728" cy="2743200"/>
          </a:xfrm>
          <a:prstGeom prst="rect">
            <a:avLst/>
          </a:prstGeom>
          <a:solidFill>
            <a:srgbClr val="3B1217"/>
          </a:solidFill>
          <a:ln w="12700">
            <a:solidFill>
              <a:srgbClr val="3B121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2,000 rows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sound sure and be off by dozens.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0" y="1783080"/>
            <a:ext cx="109728" cy="2743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code on the file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4231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counts, repeatable, and it shows what it ran. You still check one or two counts yourself.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use, specifically code execution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and totaling by code is exact. AI that eyeballs a large file can be confidently wrong.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indicators, not accusations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C8102E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45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What the data show, and that they are indicators for a person to follow up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3B1217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5603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The few numbers that matter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34747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C8102E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4747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Innocent explanations you considered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48640" y="43891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3B1217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4389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What you do not know, and the next step for a person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appear only as ID codes. Nobody is accused. Any of three next steps can earn full credit if your numbers support it.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Ethics: human accountability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3949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783080"/>
            <a:ext cx="109728" cy="3108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may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patterns. Draft text. Suggest next steps.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3949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0" y="1783080"/>
            <a:ext cx="109728" cy="310896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person must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42316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guilt. Accuse or name anyone. Sign and send the report. Drop a flag. Decide who sees information about individuals.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area 5: a person owns every decision and every signature. AI never signs off.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week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55448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tip in a plain chat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26771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ideas, judge five AI suggestions for accountability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980944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extraction template and run it on 14 records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94176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Claude test the ledger, check two findings yourself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40740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Nadia a one-page report of indicators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1206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lens: six options, equal effort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your own prompts. Check what the AI finds.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6: AI in Auditing</dc:title>
  <dc:subject>PptxGenJS Presentation</dc:subject>
  <dc:creator>Tallgrass Advisory (course scenario)</dc:creator>
  <cp:lastModifiedBy>Tallgrass Advisory (course scenario)</cp:lastModifiedBy>
  <cp:revision>1</cp:revision>
  <dcterms:created xsi:type="dcterms:W3CDTF">2026-10-20T20:18:53Z</dcterms:created>
  <dcterms:modified xsi:type="dcterms:W3CDTF">2026-10-20T20:18:53Z</dcterms:modified>
</cp:coreProperties>
</file>